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01  |  Decision Tree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C8DCFF"/>
                </a:solidFill>
              </a:rPr>
              <a:t>In-House Layout Feature Clustering</a:t>
            </a:r>
          </a:p>
        </p:txBody>
      </p:sp>
      <p:pic>
        <p:nvPicPr>
          <p:cNvPr id="5" name="Picture 4" descr="10_decision_tree_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7863840" cy="5852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75320" y="777240"/>
            <a:ext cx="3730752" cy="5852160"/>
          </a:xfrm>
          <a:prstGeom prst="rect">
            <a:avLst/>
          </a:prstGeom>
          <a:solidFill>
            <a:srgbClr val="F0F4FF"/>
          </a:solidFill>
          <a:ln w="12700">
            <a:solidFill>
              <a:srgbClr val="C8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822960"/>
            <a:ext cx="3566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1E3C"/>
                </a:solidFill>
              </a:rPr>
              <a:t>Algorithm Summary</a:t>
            </a:r>
          </a:p>
          <a:p/>
          <a:p>
            <a:r>
              <a:rPr sz="1100">
                <a:solidFill>
                  <a:srgbClr val="1E1E3C"/>
                </a:solidFill>
              </a:rPr>
              <a:t>Category: Rule-Based</a:t>
            </a:r>
          </a:p>
          <a:p/>
          <a:p>
            <a:r>
              <a:rPr sz="1100">
                <a:solidFill>
                  <a:srgbClr val="1E1E3C"/>
                </a:solidFill>
              </a:rPr>
              <a:t>Core Idea</a:t>
            </a:r>
          </a:p>
          <a:p>
            <a:r>
              <a:rPr sz="1100">
                <a:solidFill>
                  <a:srgbClr val="1E1E3C"/>
                </a:solidFill>
              </a:rPr>
              <a:t>트리 각 말단 노드(leaf)를 하나의 클러스터로 정의. 깊이(depth)가 클러스터 수를 결정.</a:t>
            </a:r>
          </a:p>
          <a:p/>
          <a:p>
            <a:r>
              <a:rPr sz="1100">
                <a:solidFill>
                  <a:srgbClr val="1E1E3C"/>
                </a:solidFill>
              </a:rPr>
              <a:t>Key Steps</a:t>
            </a:r>
          </a:p>
          <a:p>
            <a:r>
              <a:rPr sz="1100">
                <a:solidFill>
                  <a:srgbClr val="1E1E3C"/>
                </a:solidFill>
              </a:rPr>
              <a:t>① Feature 기준 재귀적 이진 분할</a:t>
            </a:r>
          </a:p>
          <a:p>
            <a:r>
              <a:rPr sz="1100">
                <a:solidFill>
                  <a:srgbClr val="1E1E3C"/>
                </a:solidFill>
              </a:rPr>
              <a:t>② 각 leaf node = cluster label</a:t>
            </a:r>
          </a:p>
          <a:p>
            <a:r>
              <a:rPr sz="1100">
                <a:solidFill>
                  <a:srgbClr val="1E1E3C"/>
                </a:solidFill>
              </a:rPr>
              <a:t>③ depth 제어로 granularity 조정</a:t>
            </a:r>
          </a:p>
          <a:p/>
          <a:p>
            <a:r>
              <a:rPr sz="1100">
                <a:solidFill>
                  <a:srgbClr val="1E1E3C"/>
                </a:solidFill>
              </a:rPr>
              <a:t>Split Criterion</a:t>
            </a:r>
          </a:p>
          <a:p>
            <a:r>
              <a:rPr sz="1100">
                <a:solidFill>
                  <a:srgbClr val="1E1E3C"/>
                </a:solidFill>
              </a:rPr>
              <a:t>• Gini impurity / Variance reduction</a:t>
            </a:r>
          </a:p>
          <a:p>
            <a:r>
              <a:rPr sz="1100">
                <a:solidFill>
                  <a:srgbClr val="1E1E3C"/>
                </a:solidFill>
              </a:rPr>
              <a:t>• 분할 기준: 축-정렬(axis-aligned)</a:t>
            </a:r>
          </a:p>
          <a:p/>
          <a:p>
            <a:r>
              <a:rPr sz="1100">
                <a:solidFill>
                  <a:srgbClr val="1E1E3C"/>
                </a:solidFill>
              </a:rPr>
              <a:t>Properties</a:t>
            </a:r>
          </a:p>
          <a:p>
            <a:r>
              <a:rPr sz="1100">
                <a:solidFill>
                  <a:srgbClr val="1E1E3C"/>
                </a:solidFill>
              </a:rPr>
              <a:t>✓ 해석 가능한 분류 규칙 제공</a:t>
            </a:r>
          </a:p>
          <a:p>
            <a:r>
              <a:rPr sz="1100">
                <a:solidFill>
                  <a:srgbClr val="1E1E3C"/>
                </a:solidFill>
              </a:rPr>
              <a:t>✓ O(depth) 빠른 추론 속도</a:t>
            </a:r>
          </a:p>
          <a:p>
            <a:r>
              <a:rPr sz="1100">
                <a:solidFill>
                  <a:srgbClr val="1E1E3C"/>
                </a:solidFill>
              </a:rPr>
              <a:t>✓ Mixed feature type 처리</a:t>
            </a:r>
          </a:p>
          <a:p>
            <a:r>
              <a:rPr sz="1100">
                <a:solidFill>
                  <a:srgbClr val="1E1E3C"/>
                </a:solidFill>
              </a:rPr>
              <a:t>△ 깊은 트리 = 과분할 위험</a:t>
            </a:r>
          </a:p>
          <a:p/>
          <a:p>
            <a:r>
              <a:rPr sz="1100">
                <a:solidFill>
                  <a:srgbClr val="1E1E3C"/>
                </a:solidFill>
              </a:rPr>
              <a:t>Reference</a:t>
            </a:r>
          </a:p>
          <a:p>
            <a:r>
              <a:rPr sz="1100">
                <a:solidFill>
                  <a:srgbClr val="1E1E3C"/>
                </a:solidFill>
              </a:rPr>
              <a:t>Breiman et al. (1984)</a:t>
            </a:r>
          </a:p>
          <a:p>
            <a:r>
              <a:rPr sz="1100">
                <a:solidFill>
                  <a:srgbClr val="1E1E3C"/>
                </a:solidFill>
              </a:rPr>
              <a:t>CART: Classification &amp; Regression Trees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02  |  K-Means Clustering  (MiniBatch)</a:t>
            </a:r>
          </a:p>
        </p:txBody>
      </p:sp>
      <p:pic>
        <p:nvPicPr>
          <p:cNvPr id="4" name="Picture 3" descr="kmeans_minib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7863840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75320" y="777240"/>
            <a:ext cx="3730752" cy="585216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822960"/>
            <a:ext cx="3566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43214"/>
                </a:solidFill>
              </a:rPr>
              <a:t>Algorithm Summary</a:t>
            </a:r>
          </a:p>
          <a:p/>
          <a:p>
            <a:r>
              <a:rPr sz="1100">
                <a:solidFill>
                  <a:srgbClr val="143214"/>
                </a:solidFill>
              </a:rPr>
              <a:t>Category: Partition-based</a:t>
            </a:r>
          </a:p>
          <a:p/>
          <a:p>
            <a:r>
              <a:rPr sz="1100">
                <a:solidFill>
                  <a:srgbClr val="143214"/>
                </a:solidFill>
              </a:rPr>
              <a:t>Core Idea</a:t>
            </a:r>
          </a:p>
          <a:p>
            <a:r>
              <a:rPr sz="1100">
                <a:solidFill>
                  <a:srgbClr val="143214"/>
                </a:solidFill>
              </a:rPr>
              <a:t>n개 데이터를 k개 구형 클러스터로 분할. Inertia(within-cluster SSE) 최소화.</a:t>
            </a:r>
          </a:p>
          <a:p/>
          <a:p>
            <a:r>
              <a:rPr sz="1100">
                <a:solidFill>
                  <a:srgbClr val="143214"/>
                </a:solidFill>
              </a:rPr>
              <a:t>Key Steps</a:t>
            </a:r>
          </a:p>
          <a:p>
            <a:r>
              <a:rPr sz="1100">
                <a:solidFill>
                  <a:srgbClr val="143214"/>
                </a:solidFill>
              </a:rPr>
              <a:t>① k-means++ 초기화 (centroids 분산)</a:t>
            </a:r>
          </a:p>
          <a:p>
            <a:r>
              <a:rPr sz="1100">
                <a:solidFill>
                  <a:srgbClr val="143214"/>
                </a:solidFill>
              </a:rPr>
              <a:t>② Mini-batch B ⊂ X 샘플링</a:t>
            </a:r>
          </a:p>
          <a:p>
            <a:r>
              <a:rPr sz="1100">
                <a:solidFill>
                  <a:srgbClr val="143214"/>
                </a:solidFill>
              </a:rPr>
              <a:t>③ 최근접 centroid 할당 (유클리드)</a:t>
            </a:r>
          </a:p>
          <a:p>
            <a:r>
              <a:rPr sz="1100">
                <a:solidFill>
                  <a:srgbClr val="143214"/>
                </a:solidFill>
              </a:rPr>
              <a:t>④ 지수이동평균으로 centroid 업데이트</a:t>
            </a:r>
          </a:p>
          <a:p>
            <a:r>
              <a:rPr sz="1100">
                <a:solidFill>
                  <a:srgbClr val="143214"/>
                </a:solidFill>
              </a:rPr>
              <a:t>⑤ 수렴까지 반복</a:t>
            </a:r>
          </a:p>
          <a:p/>
          <a:p>
            <a:r>
              <a:rPr sz="1100">
                <a:solidFill>
                  <a:srgbClr val="143214"/>
                </a:solidFill>
              </a:rPr>
              <a:t>Objective Function</a:t>
            </a:r>
          </a:p>
          <a:p>
            <a:r>
              <a:rPr sz="1100">
                <a:solidFill>
                  <a:srgbClr val="143214"/>
                </a:solidFill>
              </a:rPr>
              <a:t>min Σ min‖xᵢ − μⱼ‖²</a:t>
            </a:r>
          </a:p>
          <a:p/>
          <a:p>
            <a:r>
              <a:rPr sz="1100">
                <a:solidFill>
                  <a:srgbClr val="143214"/>
                </a:solidFill>
              </a:rPr>
              <a:t>Decision Boundary: Voronoi 다이어그램</a:t>
            </a:r>
          </a:p>
          <a:p/>
          <a:p>
            <a:r>
              <a:rPr sz="1100">
                <a:solidFill>
                  <a:srgbClr val="143214"/>
                </a:solidFill>
              </a:rPr>
              <a:t>Properties</a:t>
            </a:r>
          </a:p>
          <a:p>
            <a:r>
              <a:rPr sz="1100">
                <a:solidFill>
                  <a:srgbClr val="143214"/>
                </a:solidFill>
              </a:rPr>
              <a:t>✓ 수백만 포인트 처리 가능</a:t>
            </a:r>
          </a:p>
          <a:p>
            <a:r>
              <a:rPr sz="1100">
                <a:solidFill>
                  <a:srgbClr val="143214"/>
                </a:solidFill>
              </a:rPr>
              <a:t>✓ 빠른 수렴, GPU 최적화</a:t>
            </a:r>
          </a:p>
          <a:p>
            <a:r>
              <a:rPr sz="1100">
                <a:solidFill>
                  <a:srgbClr val="143214"/>
                </a:solidFill>
              </a:rPr>
              <a:t>△ 구형 클러스터 가정</a:t>
            </a:r>
          </a:p>
          <a:p>
            <a:r>
              <a:rPr sz="1100">
                <a:solidFill>
                  <a:srgbClr val="143214"/>
                </a:solidFill>
              </a:rPr>
              <a:t>△ k 사전 지정 필요</a:t>
            </a:r>
          </a:p>
          <a:p/>
          <a:p>
            <a:r>
              <a:rPr sz="1100">
                <a:solidFill>
                  <a:srgbClr val="143214"/>
                </a:solidFill>
              </a:rPr>
              <a:t>Reference</a:t>
            </a:r>
          </a:p>
          <a:p>
            <a:r>
              <a:rPr sz="1100">
                <a:solidFill>
                  <a:srgbClr val="143214"/>
                </a:solidFill>
              </a:rPr>
              <a:t>Sculley (2010). Web-Scale K-Means</a:t>
            </a:r>
          </a:p>
          <a:p>
            <a:r>
              <a:rPr sz="1100">
                <a:solidFill>
                  <a:srgbClr val="143214"/>
                </a:solidFill>
              </a:rPr>
              <a:t>Clustering. WWW 2010.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03  |  Autoencoder + K-Means</a:t>
            </a:r>
          </a:p>
        </p:txBody>
      </p:sp>
      <p:pic>
        <p:nvPicPr>
          <p:cNvPr id="4" name="Picture 3" descr="03_autoenco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7863840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75320" y="777240"/>
            <a:ext cx="3730752" cy="585216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822960"/>
            <a:ext cx="3566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80A3C"/>
                </a:solidFill>
              </a:rPr>
              <a:t>Algorithm Summary</a:t>
            </a:r>
          </a:p>
          <a:p/>
          <a:p>
            <a:r>
              <a:rPr sz="1100">
                <a:solidFill>
                  <a:srgbClr val="280A3C"/>
                </a:solidFill>
              </a:rPr>
              <a:t>Category: Deep Learning</a:t>
            </a:r>
          </a:p>
          <a:p/>
          <a:p>
            <a:r>
              <a:rPr sz="1100">
                <a:solidFill>
                  <a:srgbClr val="280A3C"/>
                </a:solidFill>
              </a:rPr>
              <a:t>Core Idea</a:t>
            </a:r>
          </a:p>
          <a:p>
            <a:r>
              <a:rPr sz="1100">
                <a:solidFill>
                  <a:srgbClr val="280A3C"/>
                </a:solidFill>
              </a:rPr>
              <a:t>126D 레이아웃 피처를 16D latent space로 압축 후 K-Means 적용. 비선형 구조 포착.</a:t>
            </a:r>
          </a:p>
          <a:p/>
          <a:p>
            <a:r>
              <a:rPr sz="1100">
                <a:solidFill>
                  <a:srgbClr val="280A3C"/>
                </a:solidFill>
              </a:rPr>
              <a:t>Architecture</a:t>
            </a:r>
          </a:p>
          <a:p>
            <a:r>
              <a:rPr sz="1100">
                <a:solidFill>
                  <a:srgbClr val="280A3C"/>
                </a:solidFill>
              </a:rPr>
              <a:t>Input(126) → 128 → 64 → 32</a:t>
            </a:r>
          </a:p>
          <a:p>
            <a:r>
              <a:rPr sz="1100">
                <a:solidFill>
                  <a:srgbClr val="280A3C"/>
                </a:solidFill>
              </a:rPr>
              <a:t>→ Latent z (16D) ← K-Means</a:t>
            </a:r>
          </a:p>
          <a:p>
            <a:r>
              <a:rPr sz="1100">
                <a:solidFill>
                  <a:srgbClr val="280A3C"/>
                </a:solidFill>
              </a:rPr>
              <a:t>→ 32 → 64 → 128 → Output(126)</a:t>
            </a:r>
          </a:p>
          <a:p>
            <a:r>
              <a:rPr sz="1100">
                <a:solidFill>
                  <a:srgbClr val="280A3C"/>
                </a:solidFill>
              </a:rPr>
              <a:t>· BatchNorm + LeakyReLU</a:t>
            </a:r>
          </a:p>
          <a:p>
            <a:r>
              <a:rPr sz="1100">
                <a:solidFill>
                  <a:srgbClr val="280A3C"/>
                </a:solidFill>
              </a:rPr>
              <a:t>· Loss: MSE reconstruction</a:t>
            </a:r>
          </a:p>
          <a:p/>
          <a:p>
            <a:r>
              <a:rPr sz="1100">
                <a:solidFill>
                  <a:srgbClr val="280A3C"/>
                </a:solidFill>
              </a:rPr>
              <a:t>Training</a:t>
            </a:r>
          </a:p>
          <a:p>
            <a:r>
              <a:rPr sz="1100">
                <a:solidFill>
                  <a:srgbClr val="280A3C"/>
                </a:solidFill>
              </a:rPr>
              <a:t>① AE를 reconstruction loss로 학습</a:t>
            </a:r>
          </a:p>
          <a:p>
            <a:r>
              <a:rPr sz="1100">
                <a:solidFill>
                  <a:srgbClr val="280A3C"/>
                </a:solidFill>
              </a:rPr>
              <a:t>② 전체 데이터 z 벡터 추출</a:t>
            </a:r>
          </a:p>
          <a:p>
            <a:r>
              <a:rPr sz="1100">
                <a:solidFill>
                  <a:srgbClr val="280A3C"/>
                </a:solidFill>
              </a:rPr>
              <a:t>③ z에 K-Means 적용</a:t>
            </a:r>
          </a:p>
          <a:p/>
          <a:p>
            <a:r>
              <a:rPr sz="1100">
                <a:solidFill>
                  <a:srgbClr val="280A3C"/>
                </a:solidFill>
              </a:rPr>
              <a:t>Dimensionality</a:t>
            </a:r>
          </a:p>
          <a:p>
            <a:r>
              <a:rPr sz="1100">
                <a:solidFill>
                  <a:srgbClr val="280A3C"/>
                </a:solidFill>
              </a:rPr>
              <a:t>126D → 16D (87% 압축)</a:t>
            </a:r>
          </a:p>
          <a:p/>
          <a:p>
            <a:r>
              <a:rPr sz="1100">
                <a:solidFill>
                  <a:srgbClr val="280A3C"/>
                </a:solidFill>
              </a:rPr>
              <a:t>Properties</a:t>
            </a:r>
          </a:p>
          <a:p>
            <a:r>
              <a:rPr sz="1100">
                <a:solidFill>
                  <a:srgbClr val="280A3C"/>
                </a:solidFill>
              </a:rPr>
              <a:t>✓ 비선형 manifold 구조 포착</a:t>
            </a:r>
          </a:p>
          <a:p>
            <a:r>
              <a:rPr sz="1100">
                <a:solidFill>
                  <a:srgbClr val="280A3C"/>
                </a:solidFill>
              </a:rPr>
              <a:t>✓ GPU 가속 학습</a:t>
            </a:r>
          </a:p>
          <a:p>
            <a:r>
              <a:rPr sz="1100">
                <a:solidFill>
                  <a:srgbClr val="280A3C"/>
                </a:solidFill>
              </a:rPr>
              <a:t>✓ t-SNE 시각화로 클러스터 확인</a:t>
            </a:r>
          </a:p>
          <a:p/>
          <a:p>
            <a:r>
              <a:rPr sz="1100">
                <a:solidFill>
                  <a:srgbClr val="280A3C"/>
                </a:solidFill>
              </a:rPr>
              <a:t>Reference</a:t>
            </a:r>
          </a:p>
          <a:p>
            <a:r>
              <a:rPr sz="1100">
                <a:solidFill>
                  <a:srgbClr val="280A3C"/>
                </a:solidFill>
              </a:rPr>
              <a:t>Hinton &amp; Salakhutdinov (2006)</a:t>
            </a:r>
          </a:p>
          <a:p>
            <a:r>
              <a:rPr sz="1100">
                <a:solidFill>
                  <a:srgbClr val="280A3C"/>
                </a:solidFill>
              </a:rPr>
              <a:t>Xie et al., DEC, ICML 2016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04  |  Gaussian Mixture Model  (GMM)</a:t>
            </a:r>
          </a:p>
        </p:txBody>
      </p:sp>
      <p:pic>
        <p:nvPicPr>
          <p:cNvPr id="4" name="Picture 3" descr="04_g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7863840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75320" y="777240"/>
            <a:ext cx="3730752" cy="58521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822960"/>
            <a:ext cx="3566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C1400"/>
                </a:solidFill>
              </a:rPr>
              <a:t>Algorithm Summary</a:t>
            </a:r>
          </a:p>
          <a:p/>
          <a:p>
            <a:r>
              <a:rPr sz="1100">
                <a:solidFill>
                  <a:srgbClr val="3C1400"/>
                </a:solidFill>
              </a:rPr>
              <a:t>Category: Probabilistic</a:t>
            </a:r>
          </a:p>
          <a:p/>
          <a:p>
            <a:r>
              <a:rPr sz="1100">
                <a:solidFill>
                  <a:srgbClr val="3C1400"/>
                </a:solidFill>
              </a:rPr>
              <a:t>Core Idea</a:t>
            </a:r>
          </a:p>
          <a:p>
            <a:r>
              <a:rPr sz="1100">
                <a:solidFill>
                  <a:srgbClr val="3C1400"/>
                </a:solidFill>
              </a:rPr>
              <a:t>데이터를 K개 가우시안 분포의 혼합으로 모델링. Soft(확률적) 소속 부여.</a:t>
            </a:r>
          </a:p>
          <a:p/>
          <a:p>
            <a:r>
              <a:rPr sz="1100">
                <a:solidFill>
                  <a:srgbClr val="3C1400"/>
                </a:solidFill>
              </a:rPr>
              <a:t>Model</a:t>
            </a:r>
          </a:p>
          <a:p>
            <a:r>
              <a:rPr sz="1100">
                <a:solidFill>
                  <a:srgbClr val="3C1400"/>
                </a:solidFill>
              </a:rPr>
              <a:t>p(x) = Σ πₖ N(x | μₖ, Σₖ)</a:t>
            </a:r>
          </a:p>
          <a:p>
            <a:r>
              <a:rPr sz="1100">
                <a:solidFill>
                  <a:srgbClr val="3C1400"/>
                </a:solidFill>
              </a:rPr>
              <a:t>· πₖ: 혼합 가중치</a:t>
            </a:r>
          </a:p>
          <a:p>
            <a:r>
              <a:rPr sz="1100">
                <a:solidFill>
                  <a:srgbClr val="3C1400"/>
                </a:solidFill>
              </a:rPr>
              <a:t>· μₖ: 클러스터 평균</a:t>
            </a:r>
          </a:p>
          <a:p>
            <a:r>
              <a:rPr sz="1100">
                <a:solidFill>
                  <a:srgbClr val="3C1400"/>
                </a:solidFill>
              </a:rPr>
              <a:t>· Σₖ: 공분산 행렬 (full)</a:t>
            </a:r>
          </a:p>
          <a:p/>
          <a:p>
            <a:r>
              <a:rPr sz="1100">
                <a:solidFill>
                  <a:srgbClr val="3C1400"/>
                </a:solidFill>
              </a:rPr>
              <a:t>EM Algorithm</a:t>
            </a:r>
          </a:p>
          <a:p>
            <a:r>
              <a:rPr sz="1100">
                <a:solidFill>
                  <a:srgbClr val="3C1400"/>
                </a:solidFill>
              </a:rPr>
              <a:t>① E-step: responsibility rᵢₖ 계산</a:t>
            </a:r>
          </a:p>
          <a:p>
            <a:r>
              <a:rPr sz="1100">
                <a:solidFill>
                  <a:srgbClr val="3C1400"/>
                </a:solidFill>
              </a:rPr>
              <a:t>② M-step: μ, Σ, π 업데이트</a:t>
            </a:r>
          </a:p>
          <a:p>
            <a:r>
              <a:rPr sz="1100">
                <a:solidFill>
                  <a:srgbClr val="3C1400"/>
                </a:solidFill>
              </a:rPr>
              <a:t>③ log-likelihood 수렴까지 반복</a:t>
            </a:r>
          </a:p>
          <a:p/>
          <a:p>
            <a:r>
              <a:rPr sz="1100">
                <a:solidFill>
                  <a:srgbClr val="3C1400"/>
                </a:solidFill>
              </a:rPr>
              <a:t>Scalability</a:t>
            </a:r>
          </a:p>
          <a:p>
            <a:r>
              <a:rPr sz="1100">
                <a:solidFill>
                  <a:srgbClr val="3C1400"/>
                </a:solidFill>
              </a:rPr>
              <a:t>50K 서브샘플 학습 → 전체 예측</a:t>
            </a:r>
          </a:p>
          <a:p/>
          <a:p>
            <a:r>
              <a:rPr sz="1100">
                <a:solidFill>
                  <a:srgbClr val="3C1400"/>
                </a:solidFill>
              </a:rPr>
              <a:t>Properties</a:t>
            </a:r>
          </a:p>
          <a:p>
            <a:r>
              <a:rPr sz="1100">
                <a:solidFill>
                  <a:srgbClr val="3C1400"/>
                </a:solidFill>
              </a:rPr>
              <a:t>✓ Soft assignment (불확실성 정량화)</a:t>
            </a:r>
          </a:p>
          <a:p>
            <a:r>
              <a:rPr sz="1100">
                <a:solidFill>
                  <a:srgbClr val="3C1400"/>
                </a:solidFill>
              </a:rPr>
              <a:t>✓ 타원형/기울어진 클러스터 처리</a:t>
            </a:r>
          </a:p>
          <a:p>
            <a:r>
              <a:rPr sz="1100">
                <a:solidFill>
                  <a:srgbClr val="3C1400"/>
                </a:solidFill>
              </a:rPr>
              <a:t>✓ BIC/AIC로 최적 k 선정</a:t>
            </a:r>
          </a:p>
          <a:p>
            <a:r>
              <a:rPr sz="1100">
                <a:solidFill>
                  <a:srgbClr val="3C1400"/>
                </a:solidFill>
              </a:rPr>
              <a:t>△ EM 수렴 속도 느림</a:t>
            </a:r>
          </a:p>
          <a:p/>
          <a:p>
            <a:r>
              <a:rPr sz="1100">
                <a:solidFill>
                  <a:srgbClr val="3C1400"/>
                </a:solidFill>
              </a:rPr>
              <a:t>Reference</a:t>
            </a:r>
          </a:p>
          <a:p>
            <a:r>
              <a:rPr sz="1100">
                <a:solidFill>
                  <a:srgbClr val="3C1400"/>
                </a:solidFill>
              </a:rPr>
              <a:t>Dempster et al. (1977), JRSS-B</a:t>
            </a:r>
          </a:p>
          <a:p>
            <a:r>
              <a:rPr sz="1100">
                <a:solidFill>
                  <a:srgbClr val="3C1400"/>
                </a:solidFill>
              </a:rPr>
              <a:t>Reynolds (2009), Encyclopedia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05  |  Bisecting K-Means</a:t>
            </a:r>
          </a:p>
        </p:txBody>
      </p:sp>
      <p:pic>
        <p:nvPicPr>
          <p:cNvPr id="4" name="Picture 3" descr="02_bisecting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7863840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75320" y="777240"/>
            <a:ext cx="3730752" cy="5852160"/>
          </a:xfrm>
          <a:prstGeom prst="rect">
            <a:avLst/>
          </a:prstGeom>
          <a:solidFill>
            <a:srgbClr val="E0F7FA"/>
          </a:solidFill>
          <a:ln w="12700">
            <a:solidFill>
              <a:srgbClr val="80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822960"/>
            <a:ext cx="3566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2832"/>
                </a:solidFill>
              </a:rPr>
              <a:t>Algorithm Summary</a:t>
            </a:r>
          </a:p>
          <a:p/>
          <a:p>
            <a:r>
              <a:rPr sz="1100">
                <a:solidFill>
                  <a:srgbClr val="002832"/>
                </a:solidFill>
              </a:rPr>
              <a:t>Category: Divisive Hierarchical</a:t>
            </a:r>
          </a:p>
          <a:p/>
          <a:p>
            <a:r>
              <a:rPr sz="1100">
                <a:solidFill>
                  <a:srgbClr val="002832"/>
                </a:solidFill>
              </a:rPr>
              <a:t>Core Idea</a:t>
            </a:r>
          </a:p>
          <a:p>
            <a:r>
              <a:rPr sz="1100">
                <a:solidFill>
                  <a:srgbClr val="002832"/>
                </a:solidFill>
              </a:rPr>
              <a:t>Top-down 방식: 전체 데이터 1개 클러스터에서 시작해 SSE 최대 클러스터를 반복 이분(bisect).</a:t>
            </a:r>
          </a:p>
          <a:p/>
          <a:p>
            <a:r>
              <a:rPr sz="1100">
                <a:solidFill>
                  <a:srgbClr val="002832"/>
                </a:solidFill>
              </a:rPr>
              <a:t>Algorithm</a:t>
            </a:r>
          </a:p>
          <a:p>
            <a:r>
              <a:rPr sz="1100">
                <a:solidFill>
                  <a:srgbClr val="002832"/>
                </a:solidFill>
              </a:rPr>
              <a:t>① 전체 데이터 = 클러스터 C₀</a:t>
            </a:r>
          </a:p>
          <a:p>
            <a:r>
              <a:rPr sz="1100">
                <a:solidFill>
                  <a:srgbClr val="002832"/>
                </a:solidFill>
              </a:rPr>
              <a:t>② SSE 최대 클러스터 C* 선택</a:t>
            </a:r>
          </a:p>
          <a:p>
            <a:r>
              <a:rPr sz="1100">
                <a:solidFill>
                  <a:srgbClr val="002832"/>
                </a:solidFill>
              </a:rPr>
              <a:t>③ K-Means(k=2)로 C* 분할</a:t>
            </a:r>
          </a:p>
          <a:p>
            <a:r>
              <a:rPr sz="1100">
                <a:solidFill>
                  <a:srgbClr val="002832"/>
                </a:solidFill>
              </a:rPr>
              <a:t>   → C_a, C_b</a:t>
            </a:r>
          </a:p>
          <a:p>
            <a:r>
              <a:rPr sz="1100">
                <a:solidFill>
                  <a:srgbClr val="002832"/>
                </a:solidFill>
              </a:rPr>
              <a:t>④ k개 클러스터 달성까지 반복</a:t>
            </a:r>
          </a:p>
          <a:p/>
          <a:p>
            <a:r>
              <a:rPr sz="1100">
                <a:solidFill>
                  <a:srgbClr val="002832"/>
                </a:solidFill>
              </a:rPr>
              <a:t>Split Criterion</a:t>
            </a:r>
          </a:p>
          <a:p>
            <a:r>
              <a:rPr sz="1100">
                <a:solidFill>
                  <a:srgbClr val="002832"/>
                </a:solidFill>
              </a:rPr>
              <a:t>C* = argmax SSE(Cⱼ)</a:t>
            </a:r>
          </a:p>
          <a:p>
            <a:r>
              <a:rPr sz="1100">
                <a:solidFill>
                  <a:srgbClr val="002832"/>
                </a:solidFill>
              </a:rPr>
              <a:t>SSE(C) = Σ ‖x − μ_C‖²</a:t>
            </a:r>
          </a:p>
          <a:p/>
          <a:p>
            <a:r>
              <a:rPr sz="1100">
                <a:solidFill>
                  <a:srgbClr val="002832"/>
                </a:solidFill>
              </a:rPr>
              <a:t>vs Regular K-Means</a:t>
            </a:r>
          </a:p>
          <a:p>
            <a:r>
              <a:rPr sz="1100">
                <a:solidFill>
                  <a:srgbClr val="002832"/>
                </a:solidFill>
              </a:rPr>
              <a:t>• Flat K-Means: 전체 동시 최적화</a:t>
            </a:r>
          </a:p>
          <a:p>
            <a:r>
              <a:rPr sz="1100">
                <a:solidFill>
                  <a:srgbClr val="002832"/>
                </a:solidFill>
              </a:rPr>
              <a:t>• Bisecting: 국소적 이분 → 균형적</a:t>
            </a:r>
          </a:p>
          <a:p/>
          <a:p>
            <a:r>
              <a:rPr sz="1100">
                <a:solidFill>
                  <a:srgbClr val="002832"/>
                </a:solidFill>
              </a:rPr>
              <a:t>Properties</a:t>
            </a:r>
          </a:p>
          <a:p>
            <a:r>
              <a:rPr sz="1100">
                <a:solidFill>
                  <a:srgbClr val="002832"/>
                </a:solidFill>
              </a:rPr>
              <a:t>✓ Regular K-Means보다 균형 잡힌 분할</a:t>
            </a:r>
          </a:p>
          <a:p>
            <a:r>
              <a:rPr sz="1100">
                <a:solidFill>
                  <a:srgbClr val="002832"/>
                </a:solidFill>
              </a:rPr>
              <a:t>✓ 암묵적 이진 트리 생성</a:t>
            </a:r>
          </a:p>
          <a:p>
            <a:r>
              <a:rPr sz="1100">
                <a:solidFill>
                  <a:srgbClr val="002832"/>
                </a:solidFill>
              </a:rPr>
              <a:t>✓ O(k·n·d) 복잡도</a:t>
            </a:r>
          </a:p>
          <a:p>
            <a:r>
              <a:rPr sz="1100">
                <a:solidFill>
                  <a:srgbClr val="002832"/>
                </a:solidFill>
              </a:rPr>
              <a:t>✓ 초기화 민감도 낮음</a:t>
            </a:r>
          </a:p>
          <a:p/>
          <a:p>
            <a:r>
              <a:rPr sz="1100">
                <a:solidFill>
                  <a:srgbClr val="002832"/>
                </a:solidFill>
              </a:rPr>
              <a:t>Reference</a:t>
            </a:r>
          </a:p>
          <a:p>
            <a:r>
              <a:rPr sz="1100">
                <a:solidFill>
                  <a:srgbClr val="002832"/>
                </a:solidFill>
              </a:rPr>
              <a:t>Steinbach et al. (2000), KDD Workshop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06  |  Agglomerative Hierarchical Clustering  (Ward Linkage)</a:t>
            </a:r>
          </a:p>
        </p:txBody>
      </p:sp>
      <p:pic>
        <p:nvPicPr>
          <p:cNvPr id="4" name="Picture 3" descr="05_agglome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7863840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75320" y="777240"/>
            <a:ext cx="3730752" cy="585216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822960"/>
            <a:ext cx="3566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C0A0A"/>
                </a:solidFill>
              </a:rPr>
              <a:t>Algorithm Summary</a:t>
            </a:r>
          </a:p>
          <a:p/>
          <a:p>
            <a:r>
              <a:rPr sz="1100">
                <a:solidFill>
                  <a:srgbClr val="3C0A0A"/>
                </a:solidFill>
              </a:rPr>
              <a:t>Category: Agglomerative Hierarchical</a:t>
            </a:r>
          </a:p>
          <a:p/>
          <a:p>
            <a:r>
              <a:rPr sz="1100">
                <a:solidFill>
                  <a:srgbClr val="3C0A0A"/>
                </a:solidFill>
              </a:rPr>
              <a:t>Core Idea</a:t>
            </a:r>
          </a:p>
          <a:p>
            <a:r>
              <a:rPr sz="1100">
                <a:solidFill>
                  <a:srgbClr val="3C0A0A"/>
                </a:solidFill>
              </a:rPr>
              <a:t>Bottom-up 병합: 각 포인트를 단독 클러스터로 시작 → Ward 거리 최소 쌍 반복 병합. 전체 덴드로그램 생성.</a:t>
            </a:r>
          </a:p>
          <a:p/>
          <a:p>
            <a:r>
              <a:rPr sz="1100">
                <a:solidFill>
                  <a:srgbClr val="3C0A0A"/>
                </a:solidFill>
              </a:rPr>
              <a:t>Ward Linkage</a:t>
            </a:r>
          </a:p>
          <a:p>
            <a:r>
              <a:rPr sz="1100">
                <a:solidFill>
                  <a:srgbClr val="3C0A0A"/>
                </a:solidFill>
              </a:rPr>
              <a:t>ΔV(i,j) = nᵢnⱼ/(nᵢ+nⱼ) · ‖μᵢ−μⱼ‖²</a:t>
            </a:r>
          </a:p>
          <a:p>
            <a:r>
              <a:rPr sz="1100">
                <a:solidFill>
                  <a:srgbClr val="3C0A0A"/>
                </a:solidFill>
              </a:rPr>
              <a:t>병합 시 분산 증가량 최소화</a:t>
            </a:r>
          </a:p>
          <a:p/>
          <a:p>
            <a:r>
              <a:rPr sz="1100">
                <a:solidFill>
                  <a:srgbClr val="3C0A0A"/>
                </a:solidFill>
              </a:rPr>
              <a:t>Algorithm</a:t>
            </a:r>
          </a:p>
          <a:p>
            <a:r>
              <a:rPr sz="1100">
                <a:solidFill>
                  <a:srgbClr val="3C0A0A"/>
                </a:solidFill>
              </a:rPr>
              <a:t>① n개 singleton 클러스터 초기화</a:t>
            </a:r>
          </a:p>
          <a:p>
            <a:r>
              <a:rPr sz="1100">
                <a:solidFill>
                  <a:srgbClr val="3C0A0A"/>
                </a:solidFill>
              </a:rPr>
              <a:t>② Ward 거리 행렬 계산</a:t>
            </a:r>
          </a:p>
          <a:p>
            <a:r>
              <a:rPr sz="1100">
                <a:solidFill>
                  <a:srgbClr val="3C0A0A"/>
                </a:solidFill>
              </a:rPr>
              <a:t>③ 최소 ΔV 쌍 (Cᵢ, Cⱼ) 병합</a:t>
            </a:r>
          </a:p>
          <a:p>
            <a:r>
              <a:rPr sz="1100">
                <a:solidFill>
                  <a:srgbClr val="3C0A0A"/>
                </a:solidFill>
              </a:rPr>
              <a:t>④ 거리 행렬 업데이트</a:t>
            </a:r>
          </a:p>
          <a:p>
            <a:r>
              <a:rPr sz="1100">
                <a:solidFill>
                  <a:srgbClr val="3C0A0A"/>
                </a:solidFill>
              </a:rPr>
              <a:t>⑤ 1개 클러스터 남을 때까지 반복</a:t>
            </a:r>
          </a:p>
          <a:p>
            <a:r>
              <a:rPr sz="1100">
                <a:solidFill>
                  <a:srgbClr val="3C0A0A"/>
                </a:solidFill>
              </a:rPr>
              <a:t>⑥ 덴드로그램 cut → k개 평탄화</a:t>
            </a:r>
          </a:p>
          <a:p/>
          <a:p>
            <a:r>
              <a:rPr sz="1100">
                <a:solidFill>
                  <a:srgbClr val="3C0A0A"/>
                </a:solidFill>
              </a:rPr>
              <a:t>Dendrogram</a:t>
            </a:r>
          </a:p>
          <a:p>
            <a:r>
              <a:rPr sz="1100">
                <a:solidFill>
                  <a:srgbClr val="3C0A0A"/>
                </a:solidFill>
              </a:rPr>
              <a:t>수직 절단선 위치 = 클러스터 수 결정</a:t>
            </a:r>
          </a:p>
          <a:p/>
          <a:p>
            <a:r>
              <a:rPr sz="1100">
                <a:solidFill>
                  <a:srgbClr val="3C0A0A"/>
                </a:solidFill>
              </a:rPr>
              <a:t>Properties</a:t>
            </a:r>
          </a:p>
          <a:p>
            <a:r>
              <a:rPr sz="1100">
                <a:solidFill>
                  <a:srgbClr val="3C0A0A"/>
                </a:solidFill>
              </a:rPr>
              <a:t>✓ 결정론적 (랜덤 초기화 없음)</a:t>
            </a:r>
          </a:p>
          <a:p>
            <a:r>
              <a:rPr sz="1100">
                <a:solidFill>
                  <a:srgbClr val="3C0A0A"/>
                </a:solidFill>
              </a:rPr>
              <a:t>✓ 전체 계층 구조 시각화 가능</a:t>
            </a:r>
          </a:p>
          <a:p>
            <a:r>
              <a:rPr sz="1100">
                <a:solidFill>
                  <a:srgbClr val="3C0A0A"/>
                </a:solidFill>
              </a:rPr>
              <a:t>✓ 균일하고 컴팩트한 클러스터</a:t>
            </a:r>
          </a:p>
          <a:p>
            <a:r>
              <a:rPr sz="1100">
                <a:solidFill>
                  <a:srgbClr val="3C0A0A"/>
                </a:solidFill>
              </a:rPr>
              <a:t>△ O(n²logn) 메모리</a:t>
            </a:r>
          </a:p>
          <a:p/>
          <a:p>
            <a:r>
              <a:rPr sz="1100">
                <a:solidFill>
                  <a:srgbClr val="3C0A0A"/>
                </a:solidFill>
              </a:rPr>
              <a:t>Reference</a:t>
            </a:r>
          </a:p>
          <a:p>
            <a:r>
              <a:rPr sz="1100">
                <a:solidFill>
                  <a:srgbClr val="3C0A0A"/>
                </a:solidFill>
              </a:rPr>
              <a:t>Ward (1963), JASA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4527A0"/>
          </a:solidFill>
          <a:ln>
            <a:solidFill>
              <a:srgbClr val="452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07  |  HDBSCAN  (Hierarchical Density-Based Clustering)</a:t>
            </a:r>
          </a:p>
        </p:txBody>
      </p:sp>
      <p:pic>
        <p:nvPicPr>
          <p:cNvPr id="4" name="Picture 3" descr="06_hdb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7863840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75320" y="777240"/>
            <a:ext cx="3730752" cy="5852160"/>
          </a:xfrm>
          <a:prstGeom prst="rect">
            <a:avLst/>
          </a:prstGeom>
          <a:solidFill>
            <a:srgbClr val="EDE7F6"/>
          </a:solidFill>
          <a:ln w="1270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822960"/>
            <a:ext cx="3566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90A3C"/>
                </a:solidFill>
              </a:rPr>
              <a:t>Algorithm Summary</a:t>
            </a:r>
          </a:p>
          <a:p/>
          <a:p>
            <a:r>
              <a:rPr sz="1100">
                <a:solidFill>
                  <a:srgbClr val="190A3C"/>
                </a:solidFill>
              </a:rPr>
              <a:t>Category: Density-Based</a:t>
            </a:r>
          </a:p>
          <a:p/>
          <a:p>
            <a:r>
              <a:rPr sz="1100">
                <a:solidFill>
                  <a:srgbClr val="190A3C"/>
                </a:solidFill>
              </a:rPr>
              <a:t>Core Idea</a:t>
            </a:r>
          </a:p>
          <a:p>
            <a:r>
              <a:rPr sz="1100">
                <a:solidFill>
                  <a:srgbClr val="190A3C"/>
                </a:solidFill>
              </a:rPr>
              <a:t>밀도 계층 구조에서 안정적인 클러스터를 추출. 저밀도 영역 포인트 = 노이즈(−1).</a:t>
            </a:r>
          </a:p>
          <a:p/>
          <a:p>
            <a:r>
              <a:rPr sz="1100">
                <a:solidFill>
                  <a:srgbClr val="190A3C"/>
                </a:solidFill>
              </a:rPr>
              <a:t>Algorithm</a:t>
            </a:r>
          </a:p>
          <a:p>
            <a:r>
              <a:rPr sz="1100">
                <a:solidFill>
                  <a:srgbClr val="190A3C"/>
                </a:solidFill>
              </a:rPr>
              <a:t>① Core distance 계산 (k-NN 기반)</a:t>
            </a:r>
          </a:p>
          <a:p>
            <a:r>
              <a:rPr sz="1100">
                <a:solidFill>
                  <a:srgbClr val="190A3C"/>
                </a:solidFill>
              </a:rPr>
              <a:t>② Mutual reachability graph 구성</a:t>
            </a:r>
          </a:p>
          <a:p>
            <a:r>
              <a:rPr sz="1100">
                <a:solidFill>
                  <a:srgbClr val="190A3C"/>
                </a:solidFill>
              </a:rPr>
              <a:t>③ Minimum spanning tree 생성</a:t>
            </a:r>
          </a:p>
          <a:p>
            <a:r>
              <a:rPr sz="1100">
                <a:solidFill>
                  <a:srgbClr val="190A3C"/>
                </a:solidFill>
              </a:rPr>
              <a:t>④ 클러스터 계층 condensation</a:t>
            </a:r>
          </a:p>
          <a:p>
            <a:r>
              <a:rPr sz="1100">
                <a:solidFill>
                  <a:srgbClr val="190A3C"/>
                </a:solidFill>
              </a:rPr>
              <a:t>⑤ Cluster stability 최대화로 추출</a:t>
            </a:r>
          </a:p>
          <a:p>
            <a:r>
              <a:rPr sz="1100">
                <a:solidFill>
                  <a:srgbClr val="190A3C"/>
                </a:solidFill>
              </a:rPr>
              <a:t>   stability = Σ(λ_death − λ_birth)</a:t>
            </a:r>
          </a:p>
          <a:p/>
          <a:p>
            <a:r>
              <a:rPr sz="1100">
                <a:solidFill>
                  <a:srgbClr val="190A3C"/>
                </a:solidFill>
              </a:rPr>
              <a:t>Key Parameters</a:t>
            </a:r>
          </a:p>
          <a:p>
            <a:r>
              <a:rPr sz="1100">
                <a:solidFill>
                  <a:srgbClr val="190A3C"/>
                </a:solidFill>
              </a:rPr>
              <a:t>• min_cluster_size: 최소 클러스터 크기</a:t>
            </a:r>
          </a:p>
          <a:p>
            <a:r>
              <a:rPr sz="1100">
                <a:solidFill>
                  <a:srgbClr val="190A3C"/>
                </a:solidFill>
              </a:rPr>
              <a:t>• min_samples: core point 기준</a:t>
            </a:r>
          </a:p>
          <a:p/>
          <a:p>
            <a:r>
              <a:rPr sz="1100">
                <a:solidFill>
                  <a:srgbClr val="190A3C"/>
                </a:solidFill>
              </a:rPr>
              <a:t>Properties</a:t>
            </a:r>
          </a:p>
          <a:p>
            <a:r>
              <a:rPr sz="1100">
                <a:solidFill>
                  <a:srgbClr val="190A3C"/>
                </a:solidFill>
              </a:rPr>
              <a:t>✓ k 사전 지정 불필요</a:t>
            </a:r>
          </a:p>
          <a:p>
            <a:r>
              <a:rPr sz="1100">
                <a:solidFill>
                  <a:srgbClr val="190A3C"/>
                </a:solidFill>
              </a:rPr>
              <a:t>✓ 가변 밀도 클러스터 처리</a:t>
            </a:r>
          </a:p>
          <a:p>
            <a:r>
              <a:rPr sz="1100">
                <a:solidFill>
                  <a:srgbClr val="190A3C"/>
                </a:solidFill>
              </a:rPr>
              <a:t>✓ 임의 형상 클러스터 탐지</a:t>
            </a:r>
          </a:p>
          <a:p>
            <a:r>
              <a:rPr sz="1100">
                <a:solidFill>
                  <a:srgbClr val="190A3C"/>
                </a:solidFill>
              </a:rPr>
              <a:t>✓ 노이즈/이상치 자동 분리</a:t>
            </a:r>
          </a:p>
          <a:p>
            <a:r>
              <a:rPr sz="1100">
                <a:solidFill>
                  <a:srgbClr val="190A3C"/>
                </a:solidFill>
              </a:rPr>
              <a:t>✓ Soft membership 확률 제공</a:t>
            </a:r>
          </a:p>
          <a:p/>
          <a:p>
            <a:r>
              <a:rPr sz="1100">
                <a:solidFill>
                  <a:srgbClr val="190A3C"/>
                </a:solidFill>
              </a:rPr>
              <a:t>vs DBSCAN</a:t>
            </a:r>
          </a:p>
          <a:p>
            <a:r>
              <a:rPr sz="1100">
                <a:solidFill>
                  <a:srgbClr val="190A3C"/>
                </a:solidFill>
              </a:rPr>
              <a:t>HDBSCAN은 ε 파라미터 불필요</a:t>
            </a:r>
          </a:p>
          <a:p>
            <a:r>
              <a:rPr sz="1100">
                <a:solidFill>
                  <a:srgbClr val="190A3C"/>
                </a:solidFill>
              </a:rPr>
              <a:t>→ 스케일 불변(scale-invariant)</a:t>
            </a:r>
          </a:p>
          <a:p/>
          <a:p>
            <a:r>
              <a:rPr sz="1100">
                <a:solidFill>
                  <a:srgbClr val="190A3C"/>
                </a:solidFill>
              </a:rPr>
              <a:t>Reference</a:t>
            </a:r>
          </a:p>
          <a:p>
            <a:r>
              <a:rPr sz="1100">
                <a:solidFill>
                  <a:srgbClr val="190A3C"/>
                </a:solidFill>
              </a:rPr>
              <a:t>Campello et al. (2013), PAKDD</a:t>
            </a:r>
          </a:p>
          <a:p>
            <a:r>
              <a:rPr sz="1100">
                <a:solidFill>
                  <a:srgbClr val="190A3C"/>
                </a:solidFill>
              </a:rPr>
              <a:t>McInnes et al. (2017), JOSS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08  |  Spectral Clustering</a:t>
            </a:r>
          </a:p>
        </p:txBody>
      </p:sp>
      <p:pic>
        <p:nvPicPr>
          <p:cNvPr id="4" name="Picture 3" descr="07_spectral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7863840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75320" y="777240"/>
            <a:ext cx="3730752" cy="5852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822960"/>
            <a:ext cx="3566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A280A"/>
                </a:solidFill>
              </a:rPr>
              <a:t>Algorithm Summary</a:t>
            </a:r>
          </a:p>
          <a:p/>
          <a:p>
            <a:r>
              <a:rPr sz="1100">
                <a:solidFill>
                  <a:srgbClr val="0A280A"/>
                </a:solidFill>
              </a:rPr>
              <a:t>Category: Graph-Based</a:t>
            </a:r>
          </a:p>
          <a:p/>
          <a:p>
            <a:r>
              <a:rPr sz="1100">
                <a:solidFill>
                  <a:srgbClr val="0A280A"/>
                </a:solidFill>
              </a:rPr>
              <a:t>Core Idea</a:t>
            </a:r>
          </a:p>
          <a:p>
            <a:r>
              <a:rPr sz="1100">
                <a:solidFill>
                  <a:srgbClr val="0A280A"/>
                </a:solidFill>
              </a:rPr>
              <a:t>그래프 Laplacian의 고유벡터로 저차원 임베딩 생성 후 K-Means 적용. 비볼록 클러스터 탐지.</a:t>
            </a:r>
          </a:p>
          <a:p/>
          <a:p>
            <a:r>
              <a:rPr sz="1100">
                <a:solidFill>
                  <a:srgbClr val="0A280A"/>
                </a:solidFill>
              </a:rPr>
              <a:t>Algorithm</a:t>
            </a:r>
          </a:p>
          <a:p>
            <a:r>
              <a:rPr sz="1100">
                <a:solidFill>
                  <a:srgbClr val="0A280A"/>
                </a:solidFill>
              </a:rPr>
              <a:t>① Affinity matrix W 구성</a:t>
            </a:r>
          </a:p>
          <a:p>
            <a:r>
              <a:rPr sz="1100">
                <a:solidFill>
                  <a:srgbClr val="0A280A"/>
                </a:solidFill>
              </a:rPr>
              <a:t>   Wᵢⱼ = exp(−‖xᵢ−xⱼ‖²/2σ²)</a:t>
            </a:r>
          </a:p>
          <a:p>
            <a:r>
              <a:rPr sz="1100">
                <a:solidFill>
                  <a:srgbClr val="0A280A"/>
                </a:solidFill>
              </a:rPr>
              <a:t>② Degree matrix D 계산</a:t>
            </a:r>
          </a:p>
          <a:p>
            <a:r>
              <a:rPr sz="1100">
                <a:solidFill>
                  <a:srgbClr val="0A280A"/>
                </a:solidFill>
              </a:rPr>
              <a:t>   Dᵢᵢ = Σⱼ Wᵢⱼ</a:t>
            </a:r>
          </a:p>
          <a:p>
            <a:r>
              <a:rPr sz="1100">
                <a:solidFill>
                  <a:srgbClr val="0A280A"/>
                </a:solidFill>
              </a:rPr>
              <a:t>③ Normalized Laplacian</a:t>
            </a:r>
          </a:p>
          <a:p>
            <a:r>
              <a:rPr sz="1100">
                <a:solidFill>
                  <a:srgbClr val="0A280A"/>
                </a:solidFill>
              </a:rPr>
              <a:t>   L = D⁻½(D−W)D⁻½</a:t>
            </a:r>
          </a:p>
          <a:p>
            <a:r>
              <a:rPr sz="1100">
                <a:solidFill>
                  <a:srgbClr val="0A280A"/>
                </a:solidFill>
              </a:rPr>
              <a:t>④ Top-k 고유벡터 추출 → U ∈ ℝⁿˣᵏ</a:t>
            </a:r>
          </a:p>
          <a:p>
            <a:r>
              <a:rPr sz="1100">
                <a:solidFill>
                  <a:srgbClr val="0A280A"/>
                </a:solidFill>
              </a:rPr>
              <a:t>⑤ U의 행 정규화 후 K-Means</a:t>
            </a:r>
          </a:p>
          <a:p/>
          <a:p>
            <a:r>
              <a:rPr sz="1100">
                <a:solidFill>
                  <a:srgbClr val="0A280A"/>
                </a:solidFill>
              </a:rPr>
              <a:t>Key Parameters</a:t>
            </a:r>
          </a:p>
          <a:p>
            <a:r>
              <a:rPr sz="1100">
                <a:solidFill>
                  <a:srgbClr val="0A280A"/>
                </a:solidFill>
              </a:rPr>
              <a:t>• σ (bandwidth): 유사도 스케일</a:t>
            </a:r>
          </a:p>
          <a:p>
            <a:r>
              <a:rPr sz="1100">
                <a:solidFill>
                  <a:srgbClr val="0A280A"/>
                </a:solidFill>
              </a:rPr>
              <a:t>• k: 클러스터 수 = 고유벡터 수</a:t>
            </a:r>
          </a:p>
          <a:p/>
          <a:p>
            <a:r>
              <a:rPr sz="1100">
                <a:solidFill>
                  <a:srgbClr val="0A280A"/>
                </a:solidFill>
              </a:rPr>
              <a:t>Properties</a:t>
            </a:r>
          </a:p>
          <a:p>
            <a:r>
              <a:rPr sz="1100">
                <a:solidFill>
                  <a:srgbClr val="0A280A"/>
                </a:solidFill>
              </a:rPr>
              <a:t>✓ 고리형/비볼록 클러스터 탐지</a:t>
            </a:r>
          </a:p>
          <a:p>
            <a:r>
              <a:rPr sz="1100">
                <a:solidFill>
                  <a:srgbClr val="0A280A"/>
                </a:solidFill>
              </a:rPr>
              <a:t>✓ 그래프/유사도 데이터에 적합</a:t>
            </a:r>
          </a:p>
          <a:p>
            <a:r>
              <a:rPr sz="1100">
                <a:solidFill>
                  <a:srgbClr val="0A280A"/>
                </a:solidFill>
              </a:rPr>
              <a:t>✓ 거리 공간 불필요</a:t>
            </a:r>
          </a:p>
          <a:p>
            <a:r>
              <a:rPr sz="1100">
                <a:solidFill>
                  <a:srgbClr val="0A280A"/>
                </a:solidFill>
              </a:rPr>
              <a:t>△ O(n³) 고유분해 → 서브샘플 필요</a:t>
            </a:r>
          </a:p>
          <a:p>
            <a:r>
              <a:rPr sz="1100">
                <a:solidFill>
                  <a:srgbClr val="0A280A"/>
                </a:solidFill>
              </a:rPr>
              <a:t>△ σ 파라미터 민감</a:t>
            </a:r>
          </a:p>
          <a:p/>
          <a:p>
            <a:r>
              <a:rPr sz="1100">
                <a:solidFill>
                  <a:srgbClr val="0A280A"/>
                </a:solidFill>
              </a:rPr>
              <a:t>Reference</a:t>
            </a:r>
          </a:p>
          <a:p>
            <a:r>
              <a:rPr sz="1100">
                <a:solidFill>
                  <a:srgbClr val="0A280A"/>
                </a:solidFill>
              </a:rPr>
              <a:t>Ng et al. (2001), NIPS</a:t>
            </a:r>
          </a:p>
          <a:p>
            <a:r>
              <a:rPr sz="1100">
                <a:solidFill>
                  <a:srgbClr val="0A280A"/>
                </a:solidFill>
              </a:rPr>
              <a:t>Von Luxburg (2007), Stat &amp; Comput.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BF360C"/>
          </a:solidFill>
          <a:ln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09  |  Isolation Forest + K-Means  (Two-Stage Pipeline)</a:t>
            </a:r>
          </a:p>
        </p:txBody>
      </p:sp>
      <p:pic>
        <p:nvPicPr>
          <p:cNvPr id="4" name="Picture 3" descr="08_isolation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7863840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75320" y="777240"/>
            <a:ext cx="3730752" cy="5852160"/>
          </a:xfrm>
          <a:prstGeom prst="rect">
            <a:avLst/>
          </a:prstGeom>
          <a:solidFill>
            <a:srgbClr val="FBE9E7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822960"/>
            <a:ext cx="3566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C0F05"/>
                </a:solidFill>
              </a:rPr>
              <a:t>Algorithm Summary</a:t>
            </a:r>
          </a:p>
          <a:p/>
          <a:p>
            <a:r>
              <a:rPr sz="1100">
                <a:solidFill>
                  <a:srgbClr val="3C0F05"/>
                </a:solidFill>
              </a:rPr>
              <a:t>Category: Hybrid (Anomaly + Partition)</a:t>
            </a:r>
          </a:p>
          <a:p/>
          <a:p>
            <a:r>
              <a:rPr sz="1100">
                <a:solidFill>
                  <a:srgbClr val="3C0F05"/>
                </a:solidFill>
              </a:rPr>
              <a:t>Core Idea</a:t>
            </a:r>
          </a:p>
          <a:p>
            <a:r>
              <a:rPr sz="1100">
                <a:solidFill>
                  <a:srgbClr val="3C0F05"/>
                </a:solidFill>
              </a:rPr>
              <a:t>2단계 파이프라인: 먼저 이상치 제거 후 정제된 데이터에 K-Means 적용. 이상치 = label −1.</a:t>
            </a:r>
          </a:p>
          <a:p/>
          <a:p>
            <a:r>
              <a:rPr sz="1100">
                <a:solidFill>
                  <a:srgbClr val="3C0F05"/>
                </a:solidFill>
              </a:rPr>
              <a:t>Stage 1: Isolation Forest</a:t>
            </a:r>
          </a:p>
          <a:p>
            <a:r>
              <a:rPr sz="1100">
                <a:solidFill>
                  <a:srgbClr val="3C0F05"/>
                </a:solidFill>
              </a:rPr>
              <a:t>• Random iTree 앙상블 구성</a:t>
            </a:r>
          </a:p>
          <a:p>
            <a:r>
              <a:rPr sz="1100">
                <a:solidFill>
                  <a:srgbClr val="3C0F05"/>
                </a:solidFill>
              </a:rPr>
              <a:t>• 이상치 점수: 짧은 경로 = 이상</a:t>
            </a:r>
          </a:p>
          <a:p>
            <a:r>
              <a:rPr sz="1100">
                <a:solidFill>
                  <a:srgbClr val="3C0F05"/>
                </a:solidFill>
              </a:rPr>
              <a:t>s(x,n) = 2^{−E[h(x)]/c(n)}</a:t>
            </a:r>
          </a:p>
          <a:p>
            <a:r>
              <a:rPr sz="1100">
                <a:solidFill>
                  <a:srgbClr val="3C0F05"/>
                </a:solidFill>
              </a:rPr>
              <a:t>• contamination으로 비율 제어</a:t>
            </a:r>
          </a:p>
          <a:p/>
          <a:p>
            <a:r>
              <a:rPr sz="1100">
                <a:solidFill>
                  <a:srgbClr val="3C0F05"/>
                </a:solidFill>
              </a:rPr>
              <a:t>Stage 2: K-Means (Inliers only)</a:t>
            </a:r>
          </a:p>
          <a:p>
            <a:r>
              <a:rPr sz="1100">
                <a:solidFill>
                  <a:srgbClr val="3C0F05"/>
                </a:solidFill>
              </a:rPr>
              <a:t>• 이상치 필터링 후 K-Means</a:t>
            </a:r>
          </a:p>
          <a:p>
            <a:r>
              <a:rPr sz="1100">
                <a:solidFill>
                  <a:srgbClr val="3C0F05"/>
                </a:solidFill>
              </a:rPr>
              <a:t>• 정제 데이터로 centroid 학습</a:t>
            </a:r>
          </a:p>
          <a:p>
            <a:r>
              <a:rPr sz="1100">
                <a:solidFill>
                  <a:srgbClr val="3C0F05"/>
                </a:solidFill>
              </a:rPr>
              <a:t>• 필터된 이상치 → label −1 유지</a:t>
            </a:r>
          </a:p>
          <a:p/>
          <a:p>
            <a:r>
              <a:rPr sz="1100">
                <a:solidFill>
                  <a:srgbClr val="3C0F05"/>
                </a:solidFill>
              </a:rPr>
              <a:t>Two-Stage Pipeline</a:t>
            </a:r>
          </a:p>
          <a:p>
            <a:r>
              <a:rPr sz="1100">
                <a:solidFill>
                  <a:srgbClr val="3C0F05"/>
                </a:solidFill>
              </a:rPr>
              <a:t>Raw Data → Isolation Forest</a:t>
            </a:r>
          </a:p>
          <a:p>
            <a:r>
              <a:rPr sz="1100">
                <a:solidFill>
                  <a:srgbClr val="3C0F05"/>
                </a:solidFill>
              </a:rPr>
              <a:t>→ Outlier Filter → K-Means → Labels</a:t>
            </a:r>
          </a:p>
          <a:p/>
          <a:p>
            <a:r>
              <a:rPr sz="1100">
                <a:solidFill>
                  <a:srgbClr val="3C0F05"/>
                </a:solidFill>
              </a:rPr>
              <a:t>Properties</a:t>
            </a:r>
          </a:p>
          <a:p>
            <a:r>
              <a:rPr sz="1100">
                <a:solidFill>
                  <a:srgbClr val="3C0F05"/>
                </a:solidFill>
              </a:rPr>
              <a:t>✓ 이상치가 centroid를 왜곡하지 않음</a:t>
            </a:r>
          </a:p>
          <a:p>
            <a:r>
              <a:rPr sz="1100">
                <a:solidFill>
                  <a:srgbClr val="3C0F05"/>
                </a:solidFill>
              </a:rPr>
              <a:t>✓ 이상치 점수 해석 가능</a:t>
            </a:r>
          </a:p>
          <a:p>
            <a:r>
              <a:rPr sz="1100">
                <a:solidFill>
                  <a:srgbClr val="3C0F05"/>
                </a:solidFill>
              </a:rPr>
              <a:t>✓ 불량 레이아웃 패턴 자동 분리</a:t>
            </a:r>
          </a:p>
          <a:p>
            <a:r>
              <a:rPr sz="1100">
                <a:solidFill>
                  <a:srgbClr val="3C0F05"/>
                </a:solidFill>
              </a:rPr>
              <a:t>✓ 반도체 결함 데이터에 특히 유효</a:t>
            </a:r>
          </a:p>
          <a:p/>
          <a:p>
            <a:r>
              <a:rPr sz="1100">
                <a:solidFill>
                  <a:srgbClr val="3C0F05"/>
                </a:solidFill>
              </a:rPr>
              <a:t>Reference</a:t>
            </a:r>
          </a:p>
          <a:p>
            <a:r>
              <a:rPr sz="1100">
                <a:solidFill>
                  <a:srgbClr val="3C0F05"/>
                </a:solidFill>
              </a:rPr>
              <a:t>Liu et al. (2008), ICDM</a:t>
            </a:r>
          </a:p>
          <a:p>
            <a:r>
              <a:rPr sz="1100">
                <a:solidFill>
                  <a:srgbClr val="3C0F05"/>
                </a:solidFill>
              </a:rPr>
              <a:t>Isolation Forest (scikit-learn)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277BD"/>
          </a:solidFill>
          <a:ln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</a:rPr>
              <a:t>10  |  Variational Autoencoder + K-Means  (VAE)</a:t>
            </a:r>
          </a:p>
        </p:txBody>
      </p:sp>
      <p:pic>
        <p:nvPicPr>
          <p:cNvPr id="4" name="Picture 3" descr="09_v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7863840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75320" y="777240"/>
            <a:ext cx="3730752" cy="58521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822960"/>
            <a:ext cx="3566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51E3C"/>
                </a:solidFill>
              </a:rPr>
              <a:t>Algorithm Summary</a:t>
            </a:r>
          </a:p>
          <a:p/>
          <a:p>
            <a:r>
              <a:rPr sz="1100">
                <a:solidFill>
                  <a:srgbClr val="051E3C"/>
                </a:solidFill>
              </a:rPr>
              <a:t>Category: Deep Generative</a:t>
            </a:r>
          </a:p>
          <a:p/>
          <a:p>
            <a:r>
              <a:rPr sz="1100">
                <a:solidFill>
                  <a:srgbClr val="051E3C"/>
                </a:solidFill>
              </a:rPr>
              <a:t>Core Idea</a:t>
            </a:r>
          </a:p>
          <a:p>
            <a:r>
              <a:rPr sz="1100">
                <a:solidFill>
                  <a:srgbClr val="051E3C"/>
                </a:solidFill>
              </a:rPr>
              <a:t>확률적 잠재 공간 학습: z ~ N(μ(x), σ²(x)). Reparameterization trick으로 역전파 가능.</a:t>
            </a:r>
          </a:p>
          <a:p/>
          <a:p>
            <a:r>
              <a:rPr sz="1100">
                <a:solidFill>
                  <a:srgbClr val="051E3C"/>
                </a:solidFill>
              </a:rPr>
              <a:t>Architecture</a:t>
            </a:r>
          </a:p>
          <a:p>
            <a:r>
              <a:rPr sz="1100">
                <a:solidFill>
                  <a:srgbClr val="051E3C"/>
                </a:solidFill>
              </a:rPr>
              <a:t>Input(126) → Encoder</a:t>
            </a:r>
          </a:p>
          <a:p>
            <a:r>
              <a:rPr sz="1100">
                <a:solidFill>
                  <a:srgbClr val="051E3C"/>
                </a:solidFill>
              </a:rPr>
              <a:t>→ μ(x), log σ²(x)</a:t>
            </a:r>
          </a:p>
          <a:p>
            <a:r>
              <a:rPr sz="1100">
                <a:solidFill>
                  <a:srgbClr val="051E3C"/>
                </a:solidFill>
              </a:rPr>
              <a:t>→ z = μ + ε·σ  (ε~N(0,I))  ← K-Means</a:t>
            </a:r>
          </a:p>
          <a:p>
            <a:r>
              <a:rPr sz="1100">
                <a:solidFill>
                  <a:srgbClr val="051E3C"/>
                </a:solidFill>
              </a:rPr>
              <a:t>→ Decoder → x̂(126)</a:t>
            </a:r>
          </a:p>
          <a:p/>
          <a:p>
            <a:r>
              <a:rPr sz="1100">
                <a:solidFill>
                  <a:srgbClr val="051E3C"/>
                </a:solidFill>
              </a:rPr>
              <a:t>ELBO Loss</a:t>
            </a:r>
          </a:p>
          <a:p>
            <a:r>
              <a:rPr sz="1100">
                <a:solidFill>
                  <a:srgbClr val="051E3C"/>
                </a:solidFill>
              </a:rPr>
              <a:t>L = E[log p(x|z)] − β·KL(q‖p)</a:t>
            </a:r>
          </a:p>
          <a:p>
            <a:r>
              <a:rPr sz="1100">
                <a:solidFill>
                  <a:srgbClr val="051E3C"/>
                </a:solidFill>
              </a:rPr>
              <a:t>· Reconstruction: MSE</a:t>
            </a:r>
          </a:p>
          <a:p>
            <a:r>
              <a:rPr sz="1100">
                <a:solidFill>
                  <a:srgbClr val="051E3C"/>
                </a:solidFill>
              </a:rPr>
              <a:t>· KL: z를 N(0,I)로 정규화</a:t>
            </a:r>
          </a:p>
          <a:p>
            <a:r>
              <a:rPr sz="1100">
                <a:solidFill>
                  <a:srgbClr val="051E3C"/>
                </a:solidFill>
              </a:rPr>
              <a:t>· β &gt; 1: 더 강한 disentanglement</a:t>
            </a:r>
          </a:p>
          <a:p/>
          <a:p>
            <a:r>
              <a:rPr sz="1100">
                <a:solidFill>
                  <a:srgbClr val="051E3C"/>
                </a:solidFill>
              </a:rPr>
              <a:t>vs AE (Autoencoder)</a:t>
            </a:r>
          </a:p>
          <a:p>
            <a:r>
              <a:rPr sz="1100">
                <a:solidFill>
                  <a:srgbClr val="051E3C"/>
                </a:solidFill>
              </a:rPr>
              <a:t>• AE: z 결정론적, 공간 불규칙</a:t>
            </a:r>
          </a:p>
          <a:p>
            <a:r>
              <a:rPr sz="1100">
                <a:solidFill>
                  <a:srgbClr val="051E3C"/>
                </a:solidFill>
              </a:rPr>
              <a:t>• VAE: z 확률적, 공간 매끄럽고</a:t>
            </a:r>
          </a:p>
          <a:p>
            <a:r>
              <a:rPr sz="1100">
                <a:solidFill>
                  <a:srgbClr val="051E3C"/>
                </a:solidFill>
              </a:rPr>
              <a:t>  클러스터 경계 더 명확</a:t>
            </a:r>
          </a:p>
          <a:p/>
          <a:p>
            <a:r>
              <a:rPr sz="1100">
                <a:solidFill>
                  <a:srgbClr val="051E3C"/>
                </a:solidFill>
              </a:rPr>
              <a:t>K-Means on z</a:t>
            </a:r>
          </a:p>
          <a:p>
            <a:r>
              <a:rPr sz="1100">
                <a:solidFill>
                  <a:srgbClr val="051E3C"/>
                </a:solidFill>
              </a:rPr>
              <a:t>정규화된 latent space에서</a:t>
            </a:r>
          </a:p>
          <a:p>
            <a:r>
              <a:rPr sz="1100">
                <a:solidFill>
                  <a:srgbClr val="051E3C"/>
                </a:solidFill>
              </a:rPr>
              <a:t>클러스터 구조가 더 선명</a:t>
            </a:r>
          </a:p>
          <a:p/>
          <a:p>
            <a:r>
              <a:rPr sz="1100">
                <a:solidFill>
                  <a:srgbClr val="051E3C"/>
                </a:solidFill>
              </a:rPr>
              <a:t>Properties</a:t>
            </a:r>
          </a:p>
          <a:p>
            <a:r>
              <a:rPr sz="1100">
                <a:solidFill>
                  <a:srgbClr val="051E3C"/>
                </a:solidFill>
              </a:rPr>
              <a:t>✓ 구조화된 latent manifold</a:t>
            </a:r>
          </a:p>
          <a:p>
            <a:r>
              <a:rPr sz="1100">
                <a:solidFill>
                  <a:srgbClr val="051E3C"/>
                </a:solidFill>
              </a:rPr>
              <a:t>✓ 새로운 샘플 생성 가능 (generative)</a:t>
            </a:r>
          </a:p>
          <a:p>
            <a:r>
              <a:rPr sz="1100">
                <a:solidFill>
                  <a:srgbClr val="051E3C"/>
                </a:solidFill>
              </a:rPr>
              <a:t>✓ KL term으로 z 공간 규칙화</a:t>
            </a:r>
          </a:p>
          <a:p>
            <a:r>
              <a:rPr sz="1100">
                <a:solidFill>
                  <a:srgbClr val="051E3C"/>
                </a:solidFill>
              </a:rPr>
              <a:t>✓ β로 clustering quality 조절</a:t>
            </a:r>
          </a:p>
          <a:p/>
          <a:p>
            <a:r>
              <a:rPr sz="1100">
                <a:solidFill>
                  <a:srgbClr val="051E3C"/>
                </a:solidFill>
              </a:rPr>
              <a:t>Reference</a:t>
            </a:r>
          </a:p>
          <a:p>
            <a:r>
              <a:rPr sz="1100">
                <a:solidFill>
                  <a:srgbClr val="051E3C"/>
                </a:solidFill>
              </a:rPr>
              <a:t>Kingma &amp; Welling (2014), ICLR</a:t>
            </a:r>
          </a:p>
          <a:p>
            <a:r>
              <a:rPr sz="1100">
                <a:solidFill>
                  <a:srgbClr val="051E3C"/>
                </a:solidFill>
              </a:rPr>
              <a:t>Jiang et al., VaDE, IJCAI 2017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